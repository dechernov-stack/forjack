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64592" cy="2194560"/>
          </a:xfrm>
          <a:prstGeom prst="rect">
            <a:avLst/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Georgia"/>
              </a:rPr>
              <a:t>Storytelling Data Lake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/>
              </a:rPr>
              <a:t>Эксперт в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C84D"/>
                </a:solidFill>
                <a:latin typeface="Calibri"/>
              </a:rPr>
              <a:t>v0.2 — Expert Profile · Critic · Narrative Synthesizer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ADCFC"/>
                </a:solidFill>
                <a:latin typeface="Calibri"/>
              </a:rPr>
              <a:t>Версия, в которой голос аналитика влияет и на отбор фактов, и на итоговый сторителлинг — а не остаётся вне системы.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Почему v0.2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695"/>
                </a:solidFill>
                <a:latin typeface="Calibri"/>
              </a:rPr>
              <a:t>v0.1 собирала факты, но не имела голоса. Эксперт оставался снаружи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212080" cy="4572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C2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Без эксперта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Классификатор выбирает слой по keyword-overlap.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8999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Все факты идут в storytelling без приоритизации.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Синтезатор склеивает цитаты с метками 🟢 / 🔴 / 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Decision Engine считает все hard/soft, включая шумные.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Нет тезиса, нет голоса, нет фокуса на гипотезе.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554480"/>
            <a:ext cx="5212080" cy="4572000"/>
          </a:xfrm>
          <a:prstGeom prst="roundRect">
            <a:avLst>
              <a:gd name="adj" fmla="val 4000"/>
            </a:avLst>
          </a:prstGeom>
          <a:solidFill>
            <a:srgbClr val="EEF4E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12280" y="18288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CA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3317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С экспертным слоем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92608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ExpertProfile задаёт hypothesis, голос, приоритеты, табу.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428999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ExpertCritic ранжирует факты и формулирует тезис.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93192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В нарратив идут только kept-факты; остальное — в приложение.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43484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Decision Engine считает только то, что эксперт оставил.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93776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·  Каждая подкатегория получает тезис голосом аналитика.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Граф агентов · v0.2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695"/>
                </a:solidFill>
                <a:latin typeface="Calibri"/>
              </a:rPr>
              <a:t>Между FlagDetector и StorySynthesizer вставлены ExpertCritic и (опц.) InteractiveReview.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194560" cy="640080"/>
          </a:xfrm>
          <a:prstGeom prst="roundRect">
            <a:avLst>
              <a:gd name="adj" fmla="val 18000"/>
            </a:avLst>
          </a:prstGeom>
          <a:solidFill>
            <a:srgbClr val="556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Collectors
(parallel)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554480"/>
            <a:ext cx="2194560" cy="640080"/>
          </a:xfrm>
          <a:prstGeom prst="roundRect">
            <a:avLst>
              <a:gd name="adj" fmla="val 18000"/>
            </a:avLst>
          </a:prstGeom>
          <a:solidFill>
            <a:srgbClr val="556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LayerClassifier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554480"/>
            <a:ext cx="2194560" cy="640080"/>
          </a:xfrm>
          <a:prstGeom prst="roundRect">
            <a:avLst>
              <a:gd name="adj" fmla="val 18000"/>
            </a:avLst>
          </a:prstGeom>
          <a:solidFill>
            <a:srgbClr val="556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FlagDetector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554480"/>
            <a:ext cx="2194560" cy="64008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ExpertCritic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3898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NEW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1240" y="1554480"/>
            <a:ext cx="2011680" cy="640080"/>
          </a:xfrm>
          <a:prstGeom prst="roundRect">
            <a:avLst>
              <a:gd name="adj" fmla="val 18000"/>
            </a:avLst>
          </a:prstGeom>
          <a:solidFill>
            <a:srgbClr val="556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InteractiveReview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0" y="13898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NEW · опц.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1874520"/>
            <a:ext cx="137160" cy="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74920" y="1874520"/>
            <a:ext cx="137160" cy="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06640" y="1874520"/>
            <a:ext cx="137160" cy="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38360" y="1874520"/>
            <a:ext cx="182880" cy="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27080.0" y="2194560"/>
            <a:ext cx="0.0" cy="32004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828800.0" y="2514600"/>
            <a:ext cx="9098280.0" cy="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.0" y="2514600"/>
            <a:ext cx="0.0" cy="32004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2834640"/>
            <a:ext cx="2560320" cy="64008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TimelineBuilder
+ StorySynthesizer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267004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переписан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2834640"/>
            <a:ext cx="2194560" cy="640080"/>
          </a:xfrm>
          <a:prstGeom prst="roundRect">
            <a:avLst>
              <a:gd name="adj" fmla="val 18000"/>
            </a:avLst>
          </a:prstGeom>
          <a:solidFill>
            <a:srgbClr val="556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DecisionEngine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834640"/>
            <a:ext cx="2194560" cy="640080"/>
          </a:xfrm>
          <a:prstGeom prst="roundRect">
            <a:avLst>
              <a:gd name="adj" fmla="val 18000"/>
            </a:avLst>
          </a:prstGeom>
          <a:solidFill>
            <a:srgbClr val="556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834640"/>
            <a:ext cx="3200400" cy="640080"/>
          </a:xfrm>
          <a:prstGeom prst="roundRect">
            <a:avLst>
              <a:gd name="adj" fmla="val 18000"/>
            </a:avLst>
          </a:prstGeom>
          <a:solidFill>
            <a:srgbClr val="556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Reporter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80" y="267004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+HTML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08960" y="3154680"/>
            <a:ext cx="182880" cy="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486400" y="3154680"/>
            <a:ext cx="182880" cy="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3154680"/>
            <a:ext cx="182880" cy="0"/>
          </a:xfrm>
          <a:prstGeom prst="line">
            <a:avLst/>
          </a:prstGeom>
          <a:ln w="15875">
            <a:solidFill>
              <a:srgbClr val="6E76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41A3D"/>
                </a:solidFill>
                <a:latin typeface="Calibri"/>
              </a:rPr>
              <a:t>ExpertCritic — обязательный узел. InteractiveReview — опциональный (--interactive).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43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StorySynthesizer теперь работает в нарративном режиме: для каждой подкатегории — Тезис (голосом эксперта) → Свидетельства (kept-факты) → Что неясно (серое, требует подтверждения).</a:t>
            </a:r>
          </a:p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DecisionEngine считает только kept-факты — это даёт эксперту возможность погасить ложно-красные сигналы, не теряя аудита.</a:t>
            </a:r>
          </a:p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EventWatcher (резидентный) запускает пайплайн повторно с тем же ExpertProfile, чтобы голос оставался согласованным.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ExpertProfile — угол зрения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695"/>
                </a:solidFill>
                <a:latin typeface="Calibri"/>
              </a:rPr>
              <a:t>Передаётся как system-prompt всем LLM-узлам. Версионируется per-fund и per-sentity.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Структура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analyst_name</a:t>
            </a:r>
            <a:r>
              <a:rPr sz="1300" b="0" i="0">
                <a:solidFill>
                  <a:srgbClr val="6E7695"/>
                </a:solidFill>
                <a:latin typeface="Calibri"/>
              </a:rPr>
              <a:t>  ·  </a:t>
            </a:r>
            <a:r>
              <a:rPr sz="1300" b="0" i="0">
                <a:solidFill>
                  <a:srgbClr val="141A3D"/>
                </a:solidFill>
                <a:latin typeface="Calibri"/>
              </a:rPr>
              <a:t>имя — попадает в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role</a:t>
            </a:r>
            <a:r>
              <a:rPr sz="1300" b="0" i="0">
                <a:solidFill>
                  <a:srgbClr val="6E7695"/>
                </a:solidFill>
                <a:latin typeface="Calibri"/>
              </a:rPr>
              <a:t>  ·  </a:t>
            </a:r>
            <a:r>
              <a:rPr sz="1300" b="0" i="0">
                <a:solidFill>
                  <a:srgbClr val="141A3D"/>
                </a:solidFill>
                <a:latin typeface="Calibri"/>
              </a:rPr>
              <a:t>контекст, например «DD lead late-stage»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hypothesis</a:t>
            </a:r>
            <a:r>
              <a:rPr sz="1300" b="0" i="0">
                <a:solidFill>
                  <a:srgbClr val="6E7695"/>
                </a:solidFill>
                <a:latin typeface="Calibri"/>
              </a:rPr>
              <a:t>  ·  </a:t>
            </a:r>
            <a:r>
              <a:rPr sz="1300" b="0" i="0">
                <a:solidFill>
                  <a:srgbClr val="141A3D"/>
                </a:solidFill>
                <a:latin typeface="Calibri"/>
              </a:rPr>
              <a:t>что валидируем / опровергаем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priority_layers</a:t>
            </a:r>
            <a:r>
              <a:rPr sz="1300" b="0" i="0">
                <a:solidFill>
                  <a:srgbClr val="6E7695"/>
                </a:solidFill>
                <a:latin typeface="Calibri"/>
              </a:rPr>
              <a:t>  ·  </a:t>
            </a:r>
            <a:r>
              <a:rPr sz="1300" b="0" i="0">
                <a:solidFill>
                  <a:srgbClr val="141A3D"/>
                </a:solidFill>
                <a:latin typeface="Calibri"/>
              </a:rPr>
              <a:t>слои, которым отдаём вес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priority_subcategories</a:t>
            </a:r>
            <a:r>
              <a:rPr sz="1300" b="0" i="0">
                <a:solidFill>
                  <a:srgbClr val="6E7695"/>
                </a:solidFill>
                <a:latin typeface="Calibri"/>
              </a:rPr>
              <a:t>  ·  </a:t>
            </a:r>
            <a:r>
              <a:rPr sz="1300" b="0" i="0">
                <a:solidFill>
                  <a:srgbClr val="141A3D"/>
                </a:solidFill>
                <a:latin typeface="Calibri"/>
              </a:rPr>
              <a:t>подкатегории-минимум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taboo_topics</a:t>
            </a:r>
            <a:r>
              <a:rPr sz="1300" b="0" i="0">
                <a:solidFill>
                  <a:srgbClr val="6E7695"/>
                </a:solidFill>
                <a:latin typeface="Calibri"/>
              </a:rPr>
              <a:t>  ·  </a:t>
            </a:r>
            <a:r>
              <a:rPr sz="1300" b="0" i="0">
                <a:solidFill>
                  <a:srgbClr val="141A3D"/>
                </a:solidFill>
                <a:latin typeface="Calibri"/>
              </a:rPr>
              <a:t>тем, которые в нарратив не идут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voice</a:t>
            </a:r>
            <a:r>
              <a:rPr sz="1300" b="0" i="0">
                <a:solidFill>
                  <a:srgbClr val="6E7695"/>
                </a:solidFill>
                <a:latin typeface="Calibri"/>
              </a:rPr>
              <a:t>  ·  </a:t>
            </a:r>
            <a:r>
              <a:rPr sz="1300" b="0" i="0">
                <a:solidFill>
                  <a:srgbClr val="141A3D"/>
                </a:solidFill>
                <a:latin typeface="Calibri"/>
              </a:rPr>
              <a:t>тон: «мы видим…», «при этом…»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607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keep_threshold</a:t>
            </a:r>
            <a:r>
              <a:rPr sz="1300" b="0" i="0">
                <a:solidFill>
                  <a:srgbClr val="6E7695"/>
                </a:solidFill>
                <a:latin typeface="Calibri"/>
              </a:rPr>
              <a:t>  ·  </a:t>
            </a:r>
            <a:r>
              <a:rPr sz="1300" b="0" i="0">
                <a:solidFill>
                  <a:srgbClr val="141A3D"/>
                </a:solidFill>
                <a:latin typeface="Calibri"/>
              </a:rPr>
              <a:t>порог composite-score (0..1)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54480"/>
            <a:ext cx="5943600" cy="47548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Пример: Accumulator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Аналитик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32888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Senior DD Analyst — late-stage growth fund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90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Гипотеза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82696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Команда способна построить устойчивую alternative-liquidity-платформу для late-stage equity, опираясь на Founders Forum и track record Дэйва Вайзера в Gett. Главные риски — концентрация на одном фаундере и непрозрачная техническая команда.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085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Приоритетные слои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901184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Founder Professional · Product &amp; Business · PEST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583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Табу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650992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личное, семейное, развод, интим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61081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Голос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6400800"/>
            <a:ext cx="5486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взвешенный инвесторский; первое лицо мн.ч. («мы видим», «нам важно»); противоречия — словами «однако», «при этом».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ExpertCritic — как принимает решение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155680" cy="10058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C84D"/>
                </a:solidFill>
                <a:latin typeface="Consolas"/>
              </a:rPr>
              <a:t>composite</a:t>
            </a:r>
            <a:r>
              <a:rPr sz="2200" b="0" i="0">
                <a:solidFill>
                  <a:srgbClr val="FFFFFF"/>
                </a:solidFill>
                <a:latin typeface="Calibri"/>
              </a:rPr>
              <a:t> =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0.5</a:t>
            </a:r>
            <a:r>
              <a:rPr sz="2200" b="0" i="0">
                <a:solidFill>
                  <a:srgbClr val="CADCFC"/>
                </a:solidFill>
                <a:latin typeface="Calibri"/>
              </a:rPr>
              <a:t>·relevance</a:t>
            </a:r>
            <a:r>
              <a:rPr sz="2200" b="0" i="0">
                <a:solidFill>
                  <a:srgbClr val="FFFFFF"/>
                </a:solidFill>
                <a:latin typeface="Calibri"/>
              </a:rPr>
              <a:t>  + 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0.4</a:t>
            </a:r>
            <a:r>
              <a:rPr sz="2200" b="0" i="0">
                <a:solidFill>
                  <a:srgbClr val="CADCFC"/>
                </a:solidFill>
                <a:latin typeface="Calibri"/>
              </a:rPr>
              <a:t>·narrative_value</a:t>
            </a:r>
            <a:r>
              <a:rPr sz="2200" b="0" i="0">
                <a:solidFill>
                  <a:srgbClr val="FFFFFF"/>
                </a:solidFill>
                <a:latin typeface="Calibri"/>
              </a:rPr>
              <a:t>  + 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0.1</a:t>
            </a:r>
            <a:r>
              <a:rPr sz="2200" b="0" i="0">
                <a:solidFill>
                  <a:srgbClr val="CADCFC"/>
                </a:solidFill>
                <a:latin typeface="Calibri"/>
              </a:rPr>
              <a:t>·novelty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E7695"/>
                </a:solidFill>
                <a:latin typeface="Consolas"/>
              </a:rPr>
              <a:t>priority_layer + hyp_keywords +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+0.30 если факт в priority_layers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+0.20 если в priority_subcategories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39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+0.30 за совпадение с hypothesis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+0.20 если flag = red, +0.10 green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4688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narrative_value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08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E7695"/>
                </a:solidFill>
                <a:latin typeface="Consolas"/>
              </a:rPr>
              <a:t>цитата + числа + дата + источник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11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+0.40 если есть прямая цитата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+0.10 за каждое число (max 0.30)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34339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+0.10 если есть event_date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09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+0.20 за «переломн / урок / признаёт»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4688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651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novelty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08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E7695"/>
                </a:solidFill>
                <a:latin typeface="Consolas"/>
              </a:rPr>
              <a:t>не дублирует уже отобранное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11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1.0 если signature не встречалась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77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0.0 если факт повторяет соседа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4339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·  Сигнатура — нормализованные первые 80 симв.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15000"/>
            <a:ext cx="11155680" cy="640080"/>
          </a:xfrm>
          <a:prstGeom prst="roundRect">
            <a:avLst>
              <a:gd name="adj" fmla="val 4000"/>
            </a:avLst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keep </a:t>
            </a:r>
            <a:r>
              <a:rPr sz="1600" b="0" i="0">
                <a:solidFill>
                  <a:srgbClr val="1E2761"/>
                </a:solidFill>
                <a:latin typeface="Calibri"/>
              </a:rPr>
              <a:t>= composite ≥ keep_threshold (0.45 по умолчанию) И не таб.   </a:t>
            </a:r>
            <a:r>
              <a:rPr sz="1600" b="0" i="1">
                <a:solidFill>
                  <a:srgbClr val="1E2761"/>
                </a:solidFill>
                <a:latin typeface="Calibri"/>
              </a:rPr>
              <a:t>Если факт ставит гипотезу под вопрос — keep вне зависимости от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FactScore — аудит каждого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695"/>
                </a:solidFill>
                <a:latin typeface="Calibri"/>
              </a:rPr>
              <a:t>Каждый факт получает FactScore с обоснованием. Решение можно восстановить через год.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Поле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6642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Тип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6642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Значение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671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fact_idx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1671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7695"/>
                </a:solidFill>
                <a:latin typeface="Consolas"/>
              </a:rPr>
              <a:t>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1671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ссылка на исходный Fact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700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6700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7695"/>
                </a:solidFill>
                <a:latin typeface="Consolas"/>
              </a:rPr>
              <a:t>0..1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67004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соответствие priority_layers и hypothesis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632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729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narrative_value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17296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7695"/>
                </a:solidFill>
                <a:latin typeface="Consolas"/>
              </a:rPr>
              <a:t>0..1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17296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цитата + числа + событие + тип источника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661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6758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novelty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36758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7695"/>
                </a:solidFill>
                <a:latin typeface="Consolas"/>
              </a:rPr>
              <a:t>0..1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6758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не дублирует ли уже отобранные факты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690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78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challenges_hypothesis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41788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7695"/>
                </a:solidFill>
                <a:latin typeface="Consolas"/>
              </a:rPr>
              <a:t>bool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1788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ставит гипотезу под вопрос (обяз. в нарратив)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5720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817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keep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46817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7695"/>
                </a:solidFill>
                <a:latin typeface="Consolas"/>
              </a:rPr>
              <a:t>bool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6817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идёт ли факт в storytelling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0749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1846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expert_note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51846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7695"/>
                </a:solidFill>
                <a:latin typeface="Consolas"/>
              </a:rPr>
              <a:t>str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18464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alibri"/>
              </a:rPr>
              <a:t>краткое обоснование решения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E7695"/>
                </a:solidFill>
                <a:latin typeface="Calibri"/>
              </a:rPr>
              <a:t>Все FactScore сохраняются в Diamond-слое рядом с фактом — рядом с любой будущей правкой видно, кто (LLM-эксперт или человек) и почему отбросил факт.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Georgia"/>
              </a:rPr>
              <a:t>InteractiveReview — человек правит нарратив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695"/>
                </a:solidFill>
                <a:latin typeface="Calibri"/>
              </a:rPr>
              <a:t>Опциональный шаг (--interactive). Аналитик переворачивает keep/drop и оставляет заметки.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155680" cy="4206240"/>
          </a:xfrm>
          <a:prstGeom prst="roundRect">
            <a:avLst>
              <a:gd name="adj" fmla="val 4000"/>
            </a:avLst>
          </a:prstGeom>
          <a:solidFill>
            <a:srgbClr val="141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607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84D"/>
                </a:solidFill>
                <a:latin typeface="Consolas"/>
              </a:rPr>
              <a:t>$ python storytelling_bot.py --entity accumulator --interactive
</a:t>
            </a:r>
          </a:p>
          <a:p>
            <a:pPr algn="l"/>
            <a:r>
              <a:rPr sz="1300" b="1" i="0">
                <a:solidFill>
                  <a:srgbClr val="CADCFC"/>
                </a:solidFill>
                <a:latin typeface="Consolas"/>
              </a:rPr>
              <a:t>■ Founder Professional Story / Path to expertise
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  [1] ✓ rel=0.85 narr=0.65 nov=1.00   green «Дэйв Вайзер: Я владел…»</a:t>
            </a:r>
          </a:p>
          <a:p>
            <a:pPr algn="l"/>
            <a:r>
              <a:rPr sz="1200" b="0" i="0">
                <a:solidFill>
                  <a:srgbClr val="7AD7C1"/>
                </a:solidFill>
                <a:latin typeface="Consolas"/>
              </a:rPr>
              <a:t>          note: первичный источник, голос фаундера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  [2] ✓ rel=0.70 narr=0.40 nov=1.00 ⚠ green «Оскар Хартманн: Моя ошибка с Ozon…»</a:t>
            </a:r>
          </a:p>
          <a:p>
            <a:pPr algn="l"/>
            <a:r>
              <a:rPr sz="1200" b="0" i="0">
                <a:solidFill>
                  <a:srgbClr val="FFC84D"/>
                </a:solidFill>
                <a:latin typeface="Consolas"/>
              </a:rPr>
              <a:t>          note: ставит гипотезу под вопрос — обязательно в нарратив</a:t>
            </a:r>
          </a:p>
          <a:p>
            <a:pPr algn="l"/>
            <a:r>
              <a:rPr sz="1300" b="0" i="0">
                <a:solidFill>
                  <a:srgbClr val="6E7695"/>
                </a:solidFill>
                <a:latin typeface="Consolas"/>
              </a:rPr>
              <a:t>  [3] · rel=0.30 narr=0.20 nov=1.00   grey  «KupiVIP вышла в лидеры…»</a:t>
            </a:r>
          </a:p>
          <a:p>
            <a:pPr algn="l"/>
            <a:r>
              <a:rPr sz="1300" b="1" i="0">
                <a:solidFill>
                  <a:srgbClr val="FFC84D"/>
                </a:solidFill>
                <a:latin typeface="Consolas"/>
              </a:rPr>
              <a:t>  &gt; 3                                # toggle keep/drop</a:t>
            </a:r>
          </a:p>
          <a:p>
            <a:pPr algn="l"/>
            <a:r>
              <a:rPr sz="1300" b="1" i="0">
                <a:solidFill>
                  <a:srgbClr val="FFC84D"/>
                </a:solidFill>
                <a:latin typeface="Consolas"/>
              </a:rPr>
              <a:t>  &gt; note 1 cross-check by 2026-05-15 # приписать заметку</a:t>
            </a:r>
          </a:p>
          <a:p>
            <a:pPr algn="l"/>
            <a:r>
              <a:rPr sz="1300" b="1" i="0">
                <a:solidFill>
                  <a:srgbClr val="FFC84D"/>
                </a:solidFill>
                <a:latin typeface="Consolas"/>
              </a:rPr>
              <a:t>  &gt; n                                # следующая подкатегория</a:t>
            </a:r>
          </a:p>
          <a:p>
            <a:pPr algn="l"/>
            <a:r>
              <a:rPr sz="1300" b="1" i="0">
                <a:solidFill>
                  <a:srgbClr val="FFC84D"/>
                </a:solidFill>
                <a:latin typeface="Consolas"/>
              </a:rPr>
              <a:t>  &gt; q                                # выйти из ревью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141A3D"/>
                </a:solidFill>
                <a:latin typeface="Calibri"/>
              </a:rPr>
              <a:t>После выхода из ревью Critic пересчитывает тезисы — нарратив отражает решения человека.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Storytelling — до / после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695"/>
                </a:solidFill>
                <a:latin typeface="Calibri"/>
              </a:rPr>
              <a:t>Подкатегория: Founder Professional Story · Path to expertise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C2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Список цитат с метками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A06F"/>
                </a:solidFill>
                <a:latin typeface="Consolas"/>
              </a:rPr>
              <a:t>ЗЕЛЁНЫЙ:
</a:t>
            </a:r>
            <a:r>
              <a:rPr sz="1200" b="0" i="0">
                <a:solidFill>
                  <a:srgbClr val="141A3D"/>
                </a:solidFill>
                <a:latin typeface="Consolas"/>
              </a:rPr>
              <a:t>  · «Я владел значительной долей Gett, готовился к IPO. Началась война — окно закрылось…» </a:t>
            </a:r>
            <a:r>
              <a:rPr sz="1100" b="0" i="0">
                <a:solidFill>
                  <a:srgbClr val="6E7695"/>
                </a:solidFill>
                <a:latin typeface="Consolas"/>
              </a:rPr>
              <a:t>[src: youtube/waiser-podcast]
</a:t>
            </a:r>
            <a:r>
              <a:rPr sz="1200" b="0" i="0">
                <a:solidFill>
                  <a:srgbClr val="141A3D"/>
                </a:solidFill>
                <a:latin typeface="Consolas"/>
              </a:rPr>
              <a:t>  · «Gett под руководством Дэйва Вайзера масштабировался до 1500 городов…» </a:t>
            </a:r>
            <a:r>
              <a:rPr sz="1100" b="0" i="0">
                <a:solidFill>
                  <a:srgbClr val="6E7695"/>
                </a:solidFill>
                <a:latin typeface="Consolas"/>
              </a:rPr>
              <a:t>[src: web.archive.org/2014]
</a:t>
            </a:r>
            <a:r>
              <a:rPr sz="1200" b="0" i="0">
                <a:solidFill>
                  <a:srgbClr val="141A3D"/>
                </a:solidFill>
                <a:latin typeface="Consolas"/>
              </a:rPr>
              <a:t>  · «KupiVIP под руководством Хартманна вышла в лидеры…» </a:t>
            </a:r>
            <a:r>
              <a:rPr sz="1100" b="0" i="0">
                <a:solidFill>
                  <a:srgbClr val="6E7695"/>
                </a:solidFill>
                <a:latin typeface="Consolas"/>
              </a:rPr>
              <a:t>[src: web.archive.org/2010]
</a:t>
            </a:r>
            <a:r>
              <a:rPr sz="1300" b="1" i="0">
                <a:solidFill>
                  <a:srgbClr val="6E7695"/>
                </a:solidFill>
                <a:latin typeface="Consolas"/>
              </a:rPr>
              <a:t>СЕРЫЙ (требует доуточнения):
</a:t>
            </a:r>
            <a:r>
              <a:rPr sz="1200" b="0" i="0">
                <a:solidFill>
                  <a:srgbClr val="141A3D"/>
                </a:solidFill>
                <a:latin typeface="Consolas"/>
              </a:rPr>
              <a:t>  · «С 1996 года число публичных компаний…» </a:t>
            </a:r>
            <a:r>
              <a:rPr sz="1100" b="0" i="0">
                <a:solidFill>
                  <a:srgbClr val="6E7695"/>
                </a:solidFill>
                <a:latin typeface="Consolas"/>
              </a:rPr>
              <a:t>[src: news/private-market]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6304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EEF4E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20840" y="16459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2CA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Тезис → свидетельства → что неясно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468880"/>
            <a:ext cx="493776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тезис эксперта  </a:t>
            </a:r>
            <a:r>
              <a:rPr sz="1100" b="0" i="1">
                <a:solidFill>
                  <a:srgbClr val="6E7695"/>
                </a:solidFill>
                <a:latin typeface="Calibri"/>
              </a:rPr>
              <a:t>(голосом DD-аналитика)
</a:t>
            </a:r>
            <a:r>
              <a:rPr sz="1300" b="1" i="0">
                <a:solidFill>
                  <a:srgbClr val="141A3D"/>
                </a:solidFill>
                <a:latin typeface="Calibri"/>
              </a:rPr>
              <a:t>Дэйв Вайзер прошёл школу масштабирования в Gett — это объясняет его доступ к late-stage фаундерам и устойчивость к капитальному стрессу. </a:t>
            </a:r>
            <a:r>
              <a:rPr sz="1300" b="0" i="1">
                <a:solidFill>
                  <a:srgbClr val="141A3D"/>
                </a:solidFill>
                <a:latin typeface="Calibri"/>
              </a:rPr>
              <a:t>При этом опыт single-product не равен опыту построения регулируемого фонда.</a:t>
            </a:r>
          </a:p>
          <a:p>
            <a:pPr algn="l"/>
          </a:p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свидетельства
</a:t>
            </a:r>
            <a:r>
              <a:rPr sz="1200" b="0" i="0">
                <a:solidFill>
                  <a:srgbClr val="141A3D"/>
                </a:solidFill>
                <a:latin typeface="Calibri"/>
              </a:rPr>
              <a:t>—  «Я владел значительной долей Gett… 170M превратились в цифру».  </a:t>
            </a:r>
            <a:r>
              <a:rPr sz="1100" b="0" i="0">
                <a:solidFill>
                  <a:srgbClr val="6E7695"/>
                </a:solidFill>
                <a:latin typeface="Consolas"/>
              </a:rPr>
              <a:t>[youtube/waiser-podcast]
</a:t>
            </a:r>
            <a:r>
              <a:rPr sz="1200" b="0" i="0">
                <a:solidFill>
                  <a:srgbClr val="141A3D"/>
                </a:solidFill>
                <a:latin typeface="Calibri"/>
              </a:rPr>
              <a:t>—  Gett: 1500 городов, &gt; $1B инвестиций.  </a:t>
            </a:r>
            <a:r>
              <a:rPr sz="1100" b="0" i="0">
                <a:solidFill>
                  <a:srgbClr val="6E7695"/>
                </a:solidFill>
                <a:latin typeface="Consolas"/>
              </a:rPr>
              <a:t>[web.archive.org/2014]
</a:t>
            </a:r>
          </a:p>
          <a:p>
            <a:pPr algn="l"/>
            <a:r>
              <a:rPr sz="1100" b="1" i="0">
                <a:solidFill>
                  <a:srgbClr val="C2524A"/>
                </a:solidFill>
                <a:latin typeface="Calibri"/>
              </a:rPr>
              <a:t>что неясно
</a:t>
            </a:r>
            <a:r>
              <a:rPr sz="1200" b="0" i="0">
                <a:solidFill>
                  <a:srgbClr val="141A3D"/>
                </a:solidFill>
                <a:latin typeface="Calibri"/>
              </a:rPr>
              <a:t>Нет публичного CTO — просим публичный профиль до закрытия раунда.
</a:t>
            </a:r>
          </a:p>
          <a:p>
            <a:pPr algn="l"/>
            <a:r>
              <a:rPr sz="1100" b="1" i="0">
                <a:solidFill>
                  <a:srgbClr val="6E7695"/>
                </a:solidFill>
                <a:latin typeface="Calibri"/>
              </a:rPr>
              <a:t>в приложение</a:t>
            </a:r>
            <a:r>
              <a:rPr sz="1100" b="0" i="1">
                <a:solidFill>
                  <a:srgbClr val="6E7695"/>
                </a:solidFill>
                <a:latin typeface="Calibri"/>
              </a:rPr>
              <a:t>  ·  «KupiVIP вышла в лидеры…» — другой фаундер, не Path to expertise Вайзера.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Сквозной нарратив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695"/>
                </a:solidFill>
                <a:latin typeface="Calibri"/>
              </a:rPr>
              <a:t>StorySynthesizer связывает тезисы приоритетных слоёв единым голосом.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155680" cy="12801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ГИПОТЕЗА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latin typeface="Calibri"/>
              </a:rPr>
              <a:t>Команда Accumulator способна построить устойчивую alternative-liquidity-платформу для late-stage equity, опираясь на сеть Founders Forum и track record Дэйва Вайзера в Gett. Главные риски — концентрация на одном фаундере и непрозрачная техническая команда.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FOUNDER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Path to expertise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Вайзер прошёл школу масштабирования в Gett — это объясняет доступ к late-stage и устойчивость к капитальному стрессу. При этом опыт single-product не равен опыту регулируемого фонда.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9260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PRODUCT &amp;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Architecture of 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84048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Equity pooling под Rule 506(b) / Section 3(c)(1) — консервативный, юридически чистый каркас. Продукт сделан под регуляторное давление, а не вопреки ему.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9260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108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PEST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Historical moment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84048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3D"/>
                </a:solidFill>
                <a:latin typeface="Calibri"/>
              </a:rPr>
              <a:t>Структурный сдвиг к stay-private (&gt;$110B вторичного рынка в H1 2025) и удлинение IPO до 9–11 лет формируют объёмный TAM.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DecisionEngine с экспертом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695"/>
                </a:solidFill>
                <a:latin typeface="Calibri"/>
              </a:rPr>
              <a:t>Decision matrix не меняется. Изменилось то, что считается: только kept-факты.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1556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74320" cy="777240"/>
          </a:xfrm>
          <a:prstGeom prst="rect">
            <a:avLst/>
          </a:prstGeom>
          <a:solidFill>
            <a:srgbClr val="2CA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🟢 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8308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0 hard, ≤1 soft, ≥5 green в слоях 1, 2,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41448"/>
            <a:ext cx="111556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41448"/>
            <a:ext cx="274320" cy="777240"/>
          </a:xfrm>
          <a:prstGeom prst="rect">
            <a:avLst/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243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🟡 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7004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0 hard, 2–3 soft ИЛИ &lt;5 green в ключевых слоях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28416"/>
            <a:ext cx="111556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28416"/>
            <a:ext cx="274320" cy="777240"/>
          </a:xfrm>
          <a:prstGeom prst="rect">
            <a:avLst/>
          </a:prstGeom>
          <a:solidFill>
            <a:srgbClr val="E48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1129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🟠 Pause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55701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1 hard ИЛИ ≥4 soft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15384"/>
            <a:ext cx="111556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274320" cy="777240"/>
          </a:xfrm>
          <a:prstGeom prst="rect">
            <a:avLst/>
          </a:prstGeom>
          <a:solidFill>
            <a:srgbClr val="C2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9826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🔴 Terminate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443984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3D"/>
                </a:solidFill>
                <a:latin typeface="Calibri"/>
              </a:rPr>
              <a:t>≥2 hard ИЛИ 1 hard sanctions/criminal с conf ≥0.85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15000"/>
            <a:ext cx="11155680" cy="640080"/>
          </a:xfrm>
          <a:prstGeom prst="roundRect">
            <a:avLst>
              <a:gd name="adj" fmla="val 4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E2761"/>
                </a:solidFill>
                <a:latin typeface="Calibri"/>
              </a:rPr>
              <a:t>Каждое решение содержит поле expert: &lt;analyst_name&gt;. Аудит может восстановить, какой профиль формировал нарратив.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E7695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7695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Метрики качества — добавлены экспертные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695"/>
                </a:solidFill>
                <a:latin typeface="Calibri"/>
              </a:rPr>
              <a:t>К традиционным метрикам присоединились две новые — keep-rate и challenges-per-case.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Метрика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6642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642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Что значит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671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Coverage (kept)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1671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onsolas"/>
              </a:rPr>
              <a:t>≥85%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16712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E7695"/>
                </a:solidFill>
                <a:latin typeface="Calibri"/>
              </a:rPr>
              <a:t>доля заполненных подкатегорий по kept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7004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Freshness P50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6700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onsolas"/>
              </a:rPr>
              <a:t>≤7 дн (5–8); ≤30 дн (1–4)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6700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E7695"/>
                </a:solidFill>
                <a:latin typeface="Calibri"/>
              </a:rPr>
              <a:t>медиана возраста факта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632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729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Flag 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1729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onsolas"/>
              </a:rPr>
              <a:t>≥0.92 hard / ≥0.80 soft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17296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E7695"/>
                </a:solidFill>
                <a:latin typeface="Calibri"/>
              </a:rPr>
              <a:t>после ExpertCritic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661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6758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6758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onsolas"/>
              </a:rPr>
              <a:t>≥0.85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67588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E7695"/>
                </a:solidFill>
                <a:latin typeface="Calibri"/>
              </a:rPr>
              <a:t>доля найденных значимых фактов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690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788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Time-to-alert P95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1788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onsolas"/>
              </a:rPr>
              <a:t>≤15 мин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1788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E7695"/>
                </a:solidFill>
                <a:latin typeface="Calibri"/>
              </a:rPr>
              <a:t>от события до hooks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5720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817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Citation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681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onsolas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68172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E7695"/>
                </a:solidFill>
                <a:latin typeface="Calibri"/>
              </a:rPr>
              <a:t>никаких фактов без provenance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0749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18464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Hallucination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1846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3D"/>
                </a:solidFill>
                <a:latin typeface="Consolas"/>
              </a:rPr>
              <a:t>≤0.5%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1846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E7695"/>
                </a:solidFill>
                <a:latin typeface="Calibri"/>
              </a:rPr>
              <a:t>audit-выборка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5778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C84D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6875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Expert keep-rate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6875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0.4 – 0.7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68756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E2761"/>
                </a:solidFill>
                <a:latin typeface="Calibri"/>
              </a:rPr>
              <a:t>выше — эксперт всё пропускает; ниже — слишком жёсткий профиль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0807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FC84D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1904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Challenges per 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6190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nsolas"/>
              </a:rPr>
              <a:t>≥2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19048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E2761"/>
                </a:solidFill>
                <a:latin typeface="Calibri"/>
              </a:rPr>
              <a:t>нарратив без челленджей — повод проверить hypothesis-bias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Storytelling Data Lake Bot · Architecture v0.2 · Expert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Roadmap v0.2 → v0.3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Куда движемся после внедрения экспертного слоя.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LLM-эксперт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Заменить эвристики ExpertCritic на Claude / GPT с структурным выводом и no-hallucination guardrails.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14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Library of 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80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Несколько ExpertProfile на одну сущность — голос DD-lead, голос product-аналитика, голос журналиста.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83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Versioned theses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49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Дифф между ExpertProfile-версиями + история правок аналитика; видно, как менялся нарратив.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51959"/>
            <a:ext cx="548640" cy="548640"/>
          </a:xfrm>
          <a:prstGeom prst="ellipse">
            <a:avLst/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E2761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5195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WebUI ревью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1771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Замена CLI на интерфейс с inline-комментариями и tracked changes; команда правит вместе.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1E2761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Cross-layer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Связки внутри тезисов через граф: «детство → ценности → продуктовые решения → миссия».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